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2" r:id="rId6"/>
    <p:sldId id="257" r:id="rId7"/>
    <p:sldId id="258" r:id="rId8"/>
    <p:sldId id="259" r:id="rId9"/>
    <p:sldId id="260" r:id="rId10"/>
    <p:sldId id="261" r:id="rId11"/>
    <p:sldId id="263" r:id="rId12"/>
    <p:sldId id="268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32EF-94FE-6318-06D9-3883F6FBF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01AA-AF06-1ECD-C801-7F0FE8C81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9FC0-CF8C-5AD5-378C-48E88526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2792-6EEE-E3D3-1286-A44D1AA3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1EF9-4532-10A6-B0B3-E1420BAF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1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9155-AF20-6500-5684-56256837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E696-B484-03F4-5C49-07DA65D8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6024-0D86-BBB5-8D15-BB49F8C8F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ABC5-1336-7842-A63F-6DCDEBAA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FCD45-88F1-3BBB-B0DE-9A19678D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2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DAE5-D84E-E3A0-5B86-A0C235D5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E780B-AEF9-EEDA-37DA-44E1F5A0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6F06-A79E-8CE4-031F-7B29BA38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E791-9453-B72D-AE92-99E0D1C8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4541-F0F3-6E5E-D781-9CDE7964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98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1D4E-EACC-2A8D-5ADD-59083E0C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064F-74BB-28E3-80BF-69FE977E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6DEF2-C304-4298-26A5-B71D0AEB9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FA0C1-070C-822D-2D87-6B32541B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87BF1-4B30-0BCF-B63B-4A571186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5D8D2-36F5-A918-12EC-155E884C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56AE-13C1-EAA7-71A9-5CCA9E64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300EF-9094-EF6B-9403-A7358C29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A2EED-4669-EA43-BF89-340E88368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EAD16-FF01-A322-7281-BADC36981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1236B-FBF1-CFA6-1C23-49B8B01F2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D8AE7-F399-59CD-6CA9-3E0ADA3B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118C8-FB81-464F-0153-1A198466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AC69A-A421-10AF-C625-CD3B4565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6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C260-3694-6C82-5786-33C4FAFB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FD3CA-C94F-4B6D-A9C3-4BC4DF02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D1753-FC88-4CF4-ADC1-8AC94260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EB767-D9DF-D924-739F-4BE14955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9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A1473-FE37-FCF3-0ACD-50315F36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5AF01-9590-D76A-0CC0-FD7E53C7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4BD7-1182-CEDB-86FA-A28EFDD9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06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A9FE-7B8D-317E-5840-70CDFD30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E1D9-FB3E-A275-F1AF-B329E8CC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C7440-0E6A-91C9-880B-132C2334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CC430-6751-5518-E0E5-136B93C8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29FF5-4AF4-10CD-7697-ACF56891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EC98B-F0F3-CCCF-B2B1-6AB737CC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8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5FD3-9D5D-671F-5217-BDE0760A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2BBE6-64EA-B1D3-118A-709BA5773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8DAB1-818D-6F7B-4934-A58129BC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5865D-0F7F-6093-284B-A535904F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C7850-3001-1131-67A3-8DAD12D1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730F1-25CD-26AA-4A08-36D50695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0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1252-7277-8BFD-52B5-06F8A466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3E0D0-2EF1-3A0E-AA1B-DD1EB3263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D6BC-DE06-57F5-3D3D-DEC257D5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0C7C8-CEC5-6AB0-AE9C-86E42691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03E6-238C-1666-CDBF-12039B06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2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D6433-4114-EDC0-04C2-C51F2D1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B8061-6DDE-4E60-BE05-7A1F6541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94C0-0155-956D-843D-38A5D03A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0C85-157F-DA3A-7D9A-2488D3C2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C2EE-F9AF-E62F-0547-58DAEC16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5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4F64D-A27C-46A1-FB50-C065CBC4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B8C5F-5E0C-6DE3-4682-44408028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06F5-C7ED-A1EF-62FD-A8BEC0DF9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B1461-F9ED-F9A6-AF23-D5196171E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A637-28E7-70E1-CE31-6A7028725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0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6885-6A17-0441-298A-3ABC5B70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java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6EB-8E5E-4FED-7001-BEC94783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 oriented, platform independent , programming language to develop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Desktop applications: Runs in computer </a:t>
            </a:r>
            <a:r>
              <a:rPr lang="en-IN" dirty="0" err="1"/>
              <a:t>eg</a:t>
            </a:r>
            <a:r>
              <a:rPr lang="en-IN" dirty="0"/>
              <a:t>: Microsoft Word</a:t>
            </a:r>
          </a:p>
          <a:p>
            <a:pPr marL="0" indent="0">
              <a:buNone/>
            </a:pPr>
            <a:r>
              <a:rPr lang="en-IN" dirty="0"/>
              <a:t>Web applications : Runs in browser </a:t>
            </a:r>
            <a:r>
              <a:rPr lang="en-IN" dirty="0" err="1"/>
              <a:t>eg</a:t>
            </a:r>
            <a:r>
              <a:rPr lang="en-IN" dirty="0"/>
              <a:t>: Gmail</a:t>
            </a:r>
          </a:p>
          <a:p>
            <a:pPr marL="0" indent="0">
              <a:buNone/>
            </a:pPr>
            <a:r>
              <a:rPr lang="en-IN" dirty="0"/>
              <a:t>Distributed applications:  Runs on multiple systems </a:t>
            </a:r>
            <a:r>
              <a:rPr lang="en-IN" b="1" dirty="0" err="1"/>
              <a:t>eg</a:t>
            </a:r>
            <a:r>
              <a:rPr lang="en-IN" b="1" dirty="0"/>
              <a:t>: </a:t>
            </a:r>
            <a:r>
              <a:rPr lang="en-IN" dirty="0"/>
              <a:t>Banking systems</a:t>
            </a:r>
          </a:p>
        </p:txBody>
      </p:sp>
    </p:spTree>
    <p:extLst>
      <p:ext uri="{BB962C8B-B14F-4D97-AF65-F5344CB8AC3E}">
        <p14:creationId xmlns:p14="http://schemas.microsoft.com/office/powerpoint/2010/main" val="168788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002C-D495-764B-31EF-0F68AB73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JVM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7CABDA-3233-6A98-9B2E-D7A99A508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8"/>
            <a:ext cx="99184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runs Java bytecode.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converts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 file)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your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Java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(.class) → JVM → Machine Code (OS Specific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Java programs can run on </a:t>
            </a:r>
            <a:r>
              <a:rPr lang="en-US" sz="1800" b="1" dirty="0"/>
              <a:t>any operating system (Windows, Linux, Mac, etc.)</a:t>
            </a:r>
            <a:r>
              <a:rPr lang="en-US" sz="1800" dirty="0"/>
              <a:t> without changing the code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8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D58E-98BC-C3D4-7EFE-CE1BDF60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2CF9E5-79EE-A03F-E6E1-A3EE19E5A1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39467"/>
            <a:ext cx="602280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provides everything needed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Java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+ libraries + runtime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= JVM + Java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09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3EC3-D2C5-324E-FE07-2B003753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JDK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D0CC3-7963-750B-2912-CDE7C46BF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2"/>
            <a:ext cx="67922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package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Java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developers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write, compile, and 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= JRE + JVM + Development Tools (like compiler)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1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6711-B5C9-3CC8-2B77-83DCA9CB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131EF-A5E9-F9DF-7A4F-D1528B117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OOPs</a:t>
            </a:r>
          </a:p>
          <a:p>
            <a:r>
              <a:rPr lang="en-IN" dirty="0"/>
              <a:t>Exceptions</a:t>
            </a:r>
          </a:p>
          <a:p>
            <a:r>
              <a:rPr lang="en-IN" dirty="0"/>
              <a:t>Threads</a:t>
            </a:r>
          </a:p>
          <a:p>
            <a:r>
              <a:rPr lang="en-IN" dirty="0"/>
              <a:t>Collection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60166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033C-0BF1-A413-08AD-AA9B5F7D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39F6-99C5-527E-3CCB-744D48AB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</a:t>
            </a:r>
            <a:endParaRPr lang="en-IN" b="0" dirty="0">
              <a:effectLst/>
            </a:endParaRPr>
          </a:p>
          <a:p>
            <a:r>
              <a:rPr lang="en-IN" dirty="0"/>
              <a:t>Object</a:t>
            </a:r>
            <a:endParaRPr lang="en-IN" b="0" dirty="0">
              <a:effectLst/>
            </a:endParaRPr>
          </a:p>
          <a:p>
            <a:r>
              <a:rPr lang="en-IN" dirty="0"/>
              <a:t>Inheritance</a:t>
            </a:r>
            <a:endParaRPr lang="en-IN" b="0" dirty="0">
              <a:effectLst/>
            </a:endParaRPr>
          </a:p>
          <a:p>
            <a:r>
              <a:rPr lang="en-IN" dirty="0"/>
              <a:t>Polymorphism</a:t>
            </a:r>
            <a:endParaRPr lang="en-IN" b="0" dirty="0">
              <a:effectLst/>
            </a:endParaRPr>
          </a:p>
          <a:p>
            <a:r>
              <a:rPr lang="en-IN" dirty="0"/>
              <a:t>Encapsulation</a:t>
            </a:r>
            <a:endParaRPr lang="en-IN" b="0" dirty="0">
              <a:effectLst/>
            </a:endParaRPr>
          </a:p>
          <a:p>
            <a:r>
              <a:rPr lang="en-IN" dirty="0"/>
              <a:t>Abstraction </a:t>
            </a:r>
            <a:endParaRPr lang="en-IN" b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6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CD2E-F2D3-3688-D43E-DFA19782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5452-C75C-4906-8618-A4F79BF0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Class : collection data members/properties  and methods/ behaviors.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Example :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class Car {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String color;  // property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void drive() { // behavior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    </a:t>
            </a:r>
            <a:r>
              <a:rPr lang="en-US" sz="8000" dirty="0" err="1"/>
              <a:t>System.out.println</a:t>
            </a:r>
            <a:r>
              <a:rPr lang="en-US" sz="8000" dirty="0"/>
              <a:t>("Car is driving");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b="0" dirty="0">
                <a:effectLst/>
              </a:rPr>
            </a:b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dirty="0"/>
            </a:br>
            <a:r>
              <a:rPr lang="en-US" sz="8000" dirty="0"/>
              <a:t>Object An </a:t>
            </a:r>
            <a:r>
              <a:rPr lang="en-US" sz="8000" b="1" dirty="0"/>
              <a:t>object</a:t>
            </a:r>
            <a:r>
              <a:rPr lang="en-US" sz="8000" dirty="0"/>
              <a:t> is an instance of a class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Car </a:t>
            </a:r>
            <a:r>
              <a:rPr lang="en-US" sz="8000" dirty="0" err="1"/>
              <a:t>myCar</a:t>
            </a:r>
            <a:r>
              <a:rPr lang="en-US" sz="8000" dirty="0"/>
              <a:t> = new Car();  // creating an object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myCar.color</a:t>
            </a:r>
            <a:r>
              <a:rPr lang="en-US" sz="8000" dirty="0"/>
              <a:t> = "Red";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myCar.drive</a:t>
            </a:r>
            <a:r>
              <a:rPr lang="en-US" sz="8000" dirty="0"/>
              <a:t>(); // calling method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09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29DE-4B4E-165F-2EC9-9E0B021F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CE01-18DB-7C80-EDC6-48F01B50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48"/>
            <a:ext cx="10515600" cy="5495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acquires the properties and behaviours</a:t>
            </a:r>
            <a:r>
              <a:rPr lang="en-IN" sz="1800" dirty="0"/>
              <a:t> of another class (parent).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It promotes </a:t>
            </a:r>
            <a:r>
              <a:rPr lang="en-IN" sz="1800" b="1" dirty="0"/>
              <a:t>code reusability</a:t>
            </a:r>
            <a:r>
              <a:rPr lang="en-IN" sz="1800" dirty="0"/>
              <a:t> and </a:t>
            </a:r>
            <a:r>
              <a:rPr lang="en-IN" sz="1800" b="1" dirty="0"/>
              <a:t>method overriding</a:t>
            </a:r>
            <a:r>
              <a:rPr lang="en-IN" sz="1800" dirty="0"/>
              <a:t> (polymorphism).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eat()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("Animal eats food");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// Child class (inherits Animal)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Dog extends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bark()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("Dog barks");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8631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E3D8-0BFF-2260-576D-C53D7CB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568E-5638-5BF0-2749-A96E93BE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hiding implementation details and showing only the required functionality.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To Achieve 100 % abstraction</a:t>
            </a:r>
          </a:p>
          <a:p>
            <a:pPr marL="0" indent="0">
              <a:buNone/>
            </a:pPr>
            <a:r>
              <a:rPr lang="en-IN" sz="2000" dirty="0"/>
              <a:t>interface Shape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draw(); // </a:t>
            </a:r>
            <a:r>
              <a:rPr lang="en-IN" sz="2000" dirty="0" err="1"/>
              <a:t>behavior</a:t>
            </a:r>
            <a:r>
              <a:rPr lang="en-IN" sz="2000" dirty="0"/>
              <a:t> only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b="0" dirty="0">
                <a:effectLst/>
              </a:rPr>
            </a:b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abstract class Animal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abstract void sound();  // abstract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sleep() {         // concrete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    </a:t>
            </a:r>
            <a:r>
              <a:rPr lang="en-IN" sz="2000" dirty="0" err="1"/>
              <a:t>System.out.println</a:t>
            </a:r>
            <a:r>
              <a:rPr lang="en-IN" sz="2000" dirty="0"/>
              <a:t>("Sleeping");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4638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16A3-5145-E9A5-8BD1-C0A234F7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Polymorphism: </a:t>
            </a:r>
            <a:r>
              <a:rPr lang="en-US" sz="2400" dirty="0"/>
              <a:t>In Java the ability of one reference to behave in different forms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8590-ECC6-3F27-1569-CD98FCB6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In Java Polymorphism is mainly divided into two types: </a:t>
            </a:r>
          </a:p>
          <a:p>
            <a:pPr fontAlgn="base"/>
            <a:r>
              <a:rPr lang="en-US" dirty="0"/>
              <a:t>Compile-Time Polymorphism (method overloading)</a:t>
            </a:r>
          </a:p>
          <a:p>
            <a:pPr fontAlgn="base"/>
            <a:r>
              <a:rPr lang="en-US" dirty="0"/>
              <a:t>Runtime Polymorphism (method overriding)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06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0963-5BD2-87AB-9A67-AF8DC851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Overloading? Method name is same signature will be different</a:t>
            </a:r>
          </a:p>
          <a:p>
            <a:pPr marL="0" indent="0" fontAlgn="base">
              <a:buNone/>
            </a:pPr>
            <a:r>
              <a:rPr lang="en-US" dirty="0"/>
              <a:t>    In same class</a:t>
            </a:r>
          </a:p>
          <a:p>
            <a:pPr fontAlgn="base"/>
            <a:r>
              <a:rPr lang="en-US" dirty="0"/>
              <a:t>Overriding? when a subclass provides a specific implementation of a method that is already defined in its superclass.</a:t>
            </a:r>
          </a:p>
          <a:p>
            <a:pPr marL="0" indent="0" fontAlgn="base">
              <a:buNone/>
            </a:pPr>
            <a:r>
              <a:rPr lang="en-US" dirty="0"/>
              <a:t>      In Inheritance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13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F8CC-B962-0FE7-B78D-D85D9A36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Encapsulation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197F-9B60-22CE-872B-EC3EF928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(variables)</a:t>
            </a:r>
            <a:r>
              <a:rPr lang="en-US" dirty="0"/>
              <a:t> and </a:t>
            </a:r>
            <a:r>
              <a:rPr lang="en-US" b="1" dirty="0"/>
              <a:t>methods (functions)</a:t>
            </a:r>
            <a:r>
              <a:rPr lang="en-US" dirty="0"/>
              <a:t> together into a single unit (a class) and </a:t>
            </a:r>
            <a:r>
              <a:rPr lang="en-US" b="1" dirty="0"/>
              <a:t>restricting direct access to the data</a:t>
            </a:r>
            <a:r>
              <a:rPr lang="en-US" dirty="0"/>
              <a:t> from outside the class. </a:t>
            </a:r>
          </a:p>
          <a:p>
            <a:r>
              <a:rPr lang="en-US" dirty="0"/>
              <a:t>Encapsulation = </a:t>
            </a:r>
            <a:r>
              <a:rPr lang="en-US" b="1" dirty="0"/>
              <a:t>data hiding + controlled access</a:t>
            </a:r>
            <a:r>
              <a:rPr lang="en-US" dirty="0"/>
              <a:t> through method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308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57C88F3-DF9F-6D27-D76D-761AAFBA0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93299"/>
            <a:ext cx="1037234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hiding (using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private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variables)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only through public methods (getters/setters)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security and maintainability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unauthorized modification</a:t>
            </a:r>
          </a:p>
        </p:txBody>
      </p:sp>
    </p:spTree>
    <p:extLst>
      <p:ext uri="{BB962C8B-B14F-4D97-AF65-F5344CB8AC3E}">
        <p14:creationId xmlns:p14="http://schemas.microsoft.com/office/powerpoint/2010/main" val="4067154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8FDA-EBD2-FA2B-0C27-E4932FBC4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Employee {</a:t>
            </a:r>
          </a:p>
          <a:p>
            <a:pPr marL="0" indent="0">
              <a:buNone/>
            </a:pPr>
            <a:r>
              <a:rPr lang="en-IN" dirty="0"/>
              <a:t>    // private data member (hidden)</a:t>
            </a:r>
          </a:p>
          <a:p>
            <a:pPr marL="0" indent="0">
              <a:buNone/>
            </a:pPr>
            <a:r>
              <a:rPr lang="en-IN" dirty="0"/>
              <a:t>    private double salary;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setter method to modify salary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setSalary</a:t>
            </a:r>
            <a:r>
              <a:rPr lang="en-IN" dirty="0"/>
              <a:t>(double salary) {</a:t>
            </a:r>
          </a:p>
          <a:p>
            <a:pPr marL="0" indent="0">
              <a:buNone/>
            </a:pPr>
            <a:r>
              <a:rPr lang="en-IN" dirty="0"/>
              <a:t>        if (salary &gt; 0)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this.salary</a:t>
            </a:r>
            <a:r>
              <a:rPr lang="en-IN" dirty="0"/>
              <a:t> = salary;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// getter method to access salary</a:t>
            </a:r>
          </a:p>
          <a:p>
            <a:pPr marL="0" indent="0">
              <a:buNone/>
            </a:pPr>
            <a:r>
              <a:rPr lang="en-IN" dirty="0"/>
              <a:t>    public double </a:t>
            </a:r>
            <a:r>
              <a:rPr lang="en-IN" dirty="0" err="1"/>
              <a:t>getSalary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salary;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5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617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Office Theme</vt:lpstr>
      <vt:lpstr>What is java ?</vt:lpstr>
      <vt:lpstr>JVM</vt:lpstr>
      <vt:lpstr>JRE</vt:lpstr>
      <vt:lpstr>JDK</vt:lpstr>
      <vt:lpstr>Major concepts</vt:lpstr>
      <vt:lpstr>OOPS</vt:lpstr>
      <vt:lpstr>Class and Object</vt:lpstr>
      <vt:lpstr>Inheritance </vt:lpstr>
      <vt:lpstr>Abstraction</vt:lpstr>
      <vt:lpstr>Polymorphism: In Java the ability of one reference to behave in different forms.</vt:lpstr>
      <vt:lpstr>PowerPoint Presentation</vt:lpstr>
      <vt:lpstr>Encapsulation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JAYAKRISHNA M</dc:creator>
  <cp:lastModifiedBy>JAYAKRISHNA M</cp:lastModifiedBy>
  <cp:revision>4</cp:revision>
  <dcterms:created xsi:type="dcterms:W3CDTF">2025-11-04T11:21:56Z</dcterms:created>
  <dcterms:modified xsi:type="dcterms:W3CDTF">2025-11-04T12:45:41Z</dcterms:modified>
</cp:coreProperties>
</file>